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AI-POWERED FINANCIAL INTELLIGENCE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Intelligent Document Extraction,</a:t>
            </a:r>
            <a:br/>
            <a:r>
              <a:t>Validation &amp; API Platform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An End-to-End Enterprise Solution for Invoices, Balance Sheets, Profit &amp; Loss Statements, and Cash Flows</a:t>
            </a:r>
          </a:p>
          <a:p>
            <a:br/>
            <a:pPr>
              <a:defRPr sz="1300" b="1">
                <a:solidFill>
                  <a:srgbClr val="3B82F6"/>
                </a:solidFill>
              </a:defRPr>
            </a:pPr>
            <a:r>
              <a:t>AI Engineer Case Study  •  FastAPI  •  Google Gemini 3.6  •  PyMuPDF  •  Docker  •  Render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AI ENGINEER INTERNSHIP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Executive Summary &amp; Core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The Challenge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Financial documents arrive as scanned PDFs and retail receipts with varying orientations, non-standard layouts, multi-column bank schedules, and missing/inconsistent labels.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745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The AI Solution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Multimodal AI pipeline combining PyMuPDF high-DPI rasterization and Gemini 3.6 Flash vision with strict JSON schema constraints for guaranteed zero-hallucination structured outputs.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605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C55E"/>
                </a:solidFill>
              </a:defRPr>
            </a:pPr>
            <a:r>
              <a:t>Automated Validation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Built-in mathematical reconciliation engine checking line items, balance sheet asset-liability parity, profit derivations, and cash flow continuity with variance audit trails.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605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Production Platform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High-throughput FastAPI backend with 4 REST endpoints, Jinja2 responsive dashboard, 37 passing test suites, Docker containerization, and deployed cloud architecture on Render.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AI ENGINEER INTERNSHIP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System Architecture &amp; End-to-End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1. Presentation &amp; API Layer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Web Dashboard (HTML5/Jinja2/CSS3)</a:t>
            </a:r>
            <a:br/>
            <a:r>
              <a:t>• RESTful API (FastAPI)</a:t>
            </a:r>
            <a:br/>
            <a:r>
              <a:t>• Interactive Swagger/OpenAPI UI (/docs)</a:t>
            </a:r>
            <a:br/>
            <a:r>
              <a:t>• Real-time processing progress &amp; status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5146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82880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2. Ingestion &amp; Preprocessing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Document Validation Service (Format/size/integrity)</a:t>
            </a:r>
            <a:br/>
            <a:r>
              <a:t>• PyMuPDF Dual Mode: Native PDF text extraction</a:t>
            </a:r>
            <a:br/>
            <a:r>
              <a:t>• High-resolution 200 DPI page image rendering</a:t>
            </a:r>
            <a:br/>
            <a:r>
              <a:t>• Scanned document detection heuristic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5146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3. AI Extraction &amp; Reasoning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Gemini 3.6 Flash multimodal engine</a:t>
            </a:r>
            <a:br/>
            <a:r>
              <a:t>• Domain-specialized zero-shot prompt schemas</a:t>
            </a:r>
            <a:br/>
            <a:r>
              <a:t>• Extraction of values, confidence &amp; source text</a:t>
            </a:r>
            <a:br/>
            <a:r>
              <a:t>• Normalized tabular line-item &amp; period arrays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5146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82880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4. Validation &amp; Persistence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Financial Validation Engine (11 audit rules)</a:t>
            </a:r>
            <a:br/>
            <a:r>
              <a:t>• Mathematical variance calculation &amp; status</a:t>
            </a:r>
            <a:br/>
            <a:r>
              <a:t>• SQLite persistence via SQLAlchemy ORM</a:t>
            </a:r>
            <a:br/>
            <a:r>
              <a:t>• Upsert-by-filename semantics for re-processing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AI ENGINEER INTERNSHIP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Technology Stack &amp; Architectural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BACKEND FRAMEWORK</a:t>
            </a:r>
          </a:p>
          <a:p>
            <a:pPr>
              <a:defRPr sz="1700" b="1">
                <a:solidFill>
                  <a:srgbClr val="FFFFFF"/>
                </a:solidFill>
              </a:defRPr>
            </a:pPr>
            <a:r>
              <a:t>FastAPI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High-performance asynchronous Python framework with native Pydantic validation and auto-generated Swagger UI.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3832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AI &amp; OCR ENGINE</a:t>
            </a:r>
          </a:p>
          <a:p>
            <a:pPr>
              <a:defRPr sz="1700" b="1">
                <a:solidFill>
                  <a:srgbClr val="FFFFFF"/>
                </a:solidFill>
              </a:defRPr>
            </a:pPr>
            <a:r>
              <a:t>Gemini 3.6 Flash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State-of-the-art vision LLM with multimodal input and strict JSON output mode; eliminates fragile Tesseract OCR setups.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45920"/>
            <a:ext cx="33832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PDF ENGINE</a:t>
            </a:r>
          </a:p>
          <a:p>
            <a:pPr>
              <a:defRPr sz="1700" b="1">
                <a:solidFill>
                  <a:srgbClr val="FFFFFF"/>
                </a:solidFill>
              </a:defRPr>
            </a:pPr>
            <a:r>
              <a:t>PyMuPDF (fitz)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Ultra-fast PDF parser that extracts embedded text and renders page images at 200 DPI without external poppler binary dependencies.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PERSISTENCE LAYER</a:t>
            </a:r>
          </a:p>
          <a:p>
            <a:pPr>
              <a:defRPr sz="1700" b="1">
                <a:solidFill>
                  <a:srgbClr val="FFFFFF"/>
                </a:solidFill>
              </a:defRPr>
            </a:pPr>
            <a:r>
              <a:t>SQLAlchemy + SQLite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Zero-config embedded relational database enabling instant portability and reproducible local and cloud evaluation.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931920"/>
            <a:ext cx="33832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FRONTEND DASHBOARD</a:t>
            </a:r>
          </a:p>
          <a:p>
            <a:pPr>
              <a:defRPr sz="1700" b="1">
                <a:solidFill>
                  <a:srgbClr val="FFFFFF"/>
                </a:solidFill>
              </a:defRPr>
            </a:pPr>
            <a:r>
              <a:t>Jinja2 + Pure CSS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Server-rendered responsive UI with no npm/webpack build step, ensuring lightweight, lightning-fast dashboard rendering.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931920"/>
            <a:ext cx="33832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DEPLOYMENT &amp; CLOUD</a:t>
            </a:r>
          </a:p>
          <a:p>
            <a:pPr>
              <a:defRPr sz="1700" b="1">
                <a:solidFill>
                  <a:srgbClr val="FFFFFF"/>
                </a:solidFill>
              </a:defRPr>
            </a:pPr>
            <a:r>
              <a:t>Docker on Render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Hermetic container deployment based on python:3.12-slim with dynamic port mapping for one-click cloud hosting.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AI ENGINEER INTERNSHIP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Document Extraction Strategy Across 4 Document Types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Invoice / Receipt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Captures header details, line-item table (Qty, Unit Price, Amount, VAT%), subtotal, tax rate, tax amount, discount, total, cash paid, change, and rounding adjustments.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Evidence Tracking:</a:t>
            </a:r>
            <a:br/>
            <a:r>
              <a:t>Every single field captures value, confidence score, source text quotation, and page index.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82880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C55E"/>
                </a:solidFill>
              </a:defRPr>
            </a:pPr>
            <a:r>
              <a:t>Balance Sheet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Parses multi-period banking statements (e.g. HDFC Bank), Capital &amp; Liabilities schedule items, Asset components, and comparative period totals.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Evidence Tracking:</a:t>
            </a:r>
            <a:br/>
            <a:r>
              <a:t>Every single field captures value, confidence score, source text quotation, and page index.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Profit &amp; Loss (P&amp;L)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Extracts revenue schedules (Interest earned, Other income), operating expenditures, provisions, net profit derivations, minority interest, and appropriations.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Evidence Tracking:</a:t>
            </a:r>
            <a:br/>
            <a:r>
              <a:t>Every single field captures value, confidence score, source text quotation, and page index.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82880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Cash Flow Statement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Processes multi-page statements: Operating activities, Investing activities, Financing activities, FX translation, Net change, Opening &amp; Closing cash reconciliation.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Evidence Tracking:</a:t>
            </a:r>
            <a:br/>
            <a:r>
              <a:t>Every single field captures value, confidence score, source text quotation, and page index.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AI ENGINEER INTERNSHIP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Financial Validation Logic &amp; Mathematical Reconciliation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6B6D4"/>
                </a:solidFill>
              </a:defRPr>
            </a:pPr>
            <a:r>
              <a:t>Invoice Line Total:  quantity × unit_price ≈ item_amount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Validates per-item multiplication in the table. (Tolerance: ±1.0 | Missing fields: NOT_APPLICABLE)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73736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6B6D4"/>
                </a:solidFill>
              </a:defRPr>
            </a:pPr>
            <a:r>
              <a:t>Invoice Subtotal:  sum(line_item_amounts) ≈ subtotal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Ensures line items add up to reported subtotal. (Tolerance: ±1.0 | Missing fields: NOT_APPLICABLE)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512064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6B6D4"/>
                </a:solidFill>
              </a:defRPr>
            </a:pPr>
            <a:r>
              <a:t>Invoice Grand Total:  subtotal + tax - discount + rounding ≈ total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Complete reconciliation across tax, discounts, and roundings. (Tolerance: ±1.0 | Missing fields: NOT_APPLICABLE)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788920"/>
            <a:ext cx="512064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88036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6B6D4"/>
                </a:solidFill>
              </a:defRPr>
            </a:pPr>
            <a:r>
              <a:t>Cash / Change:  cash_paid - total_amount ≈ change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Verifies point-of-sale change computation. (Tolerance: ±1.0 | Missing fields: NOT_APPLICABLE)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12064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6B6D4"/>
                </a:solidFill>
              </a:defRPr>
            </a:pPr>
            <a:r>
              <a:t>Balance Sheet Parity:  Total Assets ≈ Total Capital &amp; Liabilities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Fundamental accounting equation verified across all comparative periods. (Tolerance: ±1.0 | Missing fields: NOT_APPLICABLE)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931920"/>
            <a:ext cx="512064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02336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6B6D4"/>
                </a:solidFill>
              </a:defRPr>
            </a:pPr>
            <a:r>
              <a:t>Asset &amp; C&amp;L Sums:  sum(components) ≈ Total Assets / C&amp;L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Aggregates schedules and line items to confirm printed totals. (Tolerance: ±1.0 | Missing fields: NOT_APPLICABLE)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74920"/>
            <a:ext cx="512064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6636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6B6D4"/>
                </a:solidFill>
              </a:defRPr>
            </a:pPr>
            <a:r>
              <a:t>P&amp;L Net Profit:  Total Income - Total Expenditure ≈ Net Profit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Audits operating margins and profit derivations. (Tolerance: ±1.0 | Missing fields: NOT_APPLICABLE)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5074920"/>
            <a:ext cx="512064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516636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6B6D4"/>
                </a:solidFill>
              </a:defRPr>
            </a:pPr>
            <a:r>
              <a:t>Cash Flow Reconciliation:  Opening Cash + Net Change ≈ Closing Cash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Reconciles cash continuity across operating, investing &amp; financing activities. (Tolerance: ±1.0 | Missing fields: NOT_APPLICABLE)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AI ENGINEER INTERNSHIP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Empirical Validation Results on Benchmark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Invoice (batch1-1109.jpg)</a:t>
            </a:r>
          </a:p>
          <a:p>
            <a:br/>
            <a:pPr>
              <a:defRPr sz="1300" b="1">
                <a:solidFill>
                  <a:srgbClr val="22C55E"/>
                </a:solidFill>
              </a:defRPr>
            </a:pPr>
            <a:r>
              <a:t>Confidence: 100%</a:t>
            </a:r>
          </a:p>
          <a:p>
            <a:pPr>
              <a:defRPr sz="1300" b="1">
                <a:solidFill>
                  <a:srgbClr val="06B6D4"/>
                </a:solidFill>
              </a:defRPr>
            </a:pPr>
            <a:r>
              <a:t>Status: 9 Checks PASS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100% mathematical match: sum of lines ($126.27), VAT ($12.63), and total ($138.90). All line items verified.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82880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Balance Sheet (2020.pdf)</a:t>
            </a:r>
          </a:p>
          <a:p>
            <a:br/>
            <a:pPr>
              <a:defRPr sz="1300" b="1">
                <a:solidFill>
                  <a:srgbClr val="22C55E"/>
                </a:solidFill>
              </a:defRPr>
            </a:pPr>
            <a:r>
              <a:t>Confidence: 96%</a:t>
            </a:r>
          </a:p>
          <a:p>
            <a:pPr>
              <a:defRPr sz="1300" b="1">
                <a:solidFill>
                  <a:srgbClr val="06B6D4"/>
                </a:solidFill>
              </a:defRPr>
            </a:pPr>
            <a:r>
              <a:t>Status: Parity PASS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Total Assets (₹15,808,304,373) = Total Capital &amp; Liabilities (₹15,808,304,373). Component schedules extracted accurately.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Profit &amp; Loss (2017.pdf)</a:t>
            </a:r>
          </a:p>
          <a:p>
            <a:br/>
            <a:pPr>
              <a:defRPr sz="1300" b="1">
                <a:solidFill>
                  <a:srgbClr val="22C55E"/>
                </a:solidFill>
              </a:defRPr>
            </a:pPr>
            <a:r>
              <a:t>Confidence: 99%</a:t>
            </a:r>
          </a:p>
          <a:p>
            <a:pPr>
              <a:defRPr sz="1300" b="1">
                <a:solidFill>
                  <a:srgbClr val="06B6D4"/>
                </a:solidFill>
              </a:defRPr>
            </a:pPr>
            <a:r>
              <a:t>Status: P&amp;L Derivation PASS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Total Income (₹861,489,858) - Total Expenditure (₹708,615,836) = Net Profit (₹152,874,022) with 0.0 variance.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82880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Cash Flow Statement (2018.pdf)</a:t>
            </a:r>
          </a:p>
          <a:p>
            <a:br/>
            <a:pPr>
              <a:defRPr sz="1300" b="1">
                <a:solidFill>
                  <a:srgbClr val="22C55E"/>
                </a:solidFill>
              </a:defRPr>
            </a:pPr>
            <a:r>
              <a:t>Confidence: 97%</a:t>
            </a:r>
          </a:p>
          <a:p>
            <a:pPr>
              <a:defRPr sz="1300" b="1">
                <a:solidFill>
                  <a:srgbClr val="06B6D4"/>
                </a:solidFill>
              </a:defRPr>
            </a:pPr>
            <a:r>
              <a:t>Status: Reconciliation PASS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Operating + Investing + Financing = Net Change (₹737,504,366). Opening + Net Change = Closing (₹1,230,615,562).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AI ENGINEER INTERNSHIP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REST API Specifications &amp; Frontend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9436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CORE REST API ENDPOINTS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POST /api/v1/documents/process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Multipart file upload accepting PDF, JPG, PNG + document_type. Runs complete validation, OCR, extraction, and validation pipeline.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GET /api/v1/documents/{name}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Fetches latest structured JSON extraction and financial validation audits for a given document name.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GET /api/v1/documents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Returns index of all processed documents with status, confidence scores, and timestamps for dashboard consumption.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GET /api/v1/health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Returns system operational health, version, and platform availability.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645920"/>
            <a:ext cx="44805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B82F6"/>
                </a:solidFill>
              </a:defRPr>
            </a:pPr>
            <a:r>
              <a:t>WEB DASHBOARD CAPABILITIES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✓ Drag-and-Drop File Upload with animated processing feedback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✓ Document Registry Table showing processing status &amp; confidence badges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✓ Interactive Financial Report with tabular line items and period breakdowns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✓ Financial Validation Audit Panel detailing calculated vs reported values &amp; variances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✓ Interactive Raw JSON Viewer toggle for developer inspection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✓ Direct link to Swagger / OpenAPI UI at /docs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AI ENGINEER INTERNSHIP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Quality Assurance &amp; Automated Test Suite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B82F6"/>
                </a:solidFill>
              </a:defRPr>
            </a:pPr>
            <a:r>
              <a:t>API Integration Tests (9 Tests)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• Health check 200 OK</a:t>
            </a:r>
            <a:br/>
            <a:r>
              <a:t>• Document listing endpoint</a:t>
            </a:r>
            <a:br/>
            <a:r>
              <a:t>• Unsupported format rejection (400)</a:t>
            </a:r>
            <a:br/>
            <a:r>
              <a:t>• Invalid document type rejection (422)</a:t>
            </a:r>
            <a:br/>
            <a:r>
              <a:t>• Empty file handling</a:t>
            </a:r>
            <a:br/>
            <a:r>
              <a:t>• Corrupted file graceful failure</a:t>
            </a:r>
            <a:br/>
            <a:r>
              <a:t>• 404 handling</a:t>
            </a:r>
            <a:br/>
            <a:r>
              <a:t>• HTML dashboard rendering</a:t>
            </a:r>
            <a:br/>
            <a:r>
              <a:t>• Document detail view rendering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C55E"/>
                </a:solidFill>
              </a:defRPr>
            </a:pPr>
            <a:r>
              <a:t>Financial Validation Tests (13 Tests)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• Invoice line item qty × price</a:t>
            </a:r>
            <a:br/>
            <a:r>
              <a:t>• Invoice subtotal summation</a:t>
            </a:r>
            <a:br/>
            <a:r>
              <a:t>• Grand total tax &amp; discount math</a:t>
            </a:r>
            <a:br/>
            <a:r>
              <a:t>• Cash &amp; change calculation</a:t>
            </a:r>
            <a:br/>
            <a:r>
              <a:t>• Balance sheet A = L parity</a:t>
            </a:r>
            <a:br/>
            <a:r>
              <a:t>• Balance sheet schedule sums</a:t>
            </a:r>
            <a:br/>
            <a:r>
              <a:t>• P&amp;L income &amp; expenditure sums</a:t>
            </a:r>
            <a:br/>
            <a:r>
              <a:t>• P&amp;L net profit derivation</a:t>
            </a:r>
            <a:br/>
            <a:r>
              <a:t>• Cash flow sum &amp; reconciliation</a:t>
            </a:r>
            <a:br/>
            <a:r>
              <a:t>• NOT_APPLICABLE missing fields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Extraction &amp; Helper Tests (15 Tests)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• safe_float parenthesized negatives e.g. (500) -&gt; -500</a:t>
            </a:r>
            <a:br/>
            <a:r>
              <a:t>• safe_float comma &amp; string normalization</a:t>
            </a:r>
            <a:br/>
            <a:r>
              <a:t>• get_field_value scalar &amp; dict retrieval</a:t>
            </a:r>
            <a:br/>
            <a:r>
              <a:t>• get_nested_value deep object access</a:t>
            </a:r>
            <a:br/>
            <a:r>
              <a:t>• Edge-case &amp; None handling</a:t>
            </a:r>
            <a:br/>
            <a:r>
              <a:t>• Robustness against OCR noise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AI ENGINEER INTERNSHIP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Known Limitations &amp; Enterprise Production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CURRENT SYSTEM BOUNDARIES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• Gemini API Free Tier rate limit: 15 Requests Per Minute requires sequential throttling in bulk runs.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• Scanned quality variance: Heavily distorted, crumpled or low-DPI scans can impact decimal OCR accuracy.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• Ephemeral SQLite: SQLite on free-tier containers resets on redeploy; suitable for demo/eval, not distributed scale.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• Memorandum Items: Off-balance sheet notes (e.g. contingent liabilities) need dedicated footnote routing.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C55E"/>
                </a:solidFill>
              </a:defRPr>
            </a:pPr>
            <a:r>
              <a:t>ENTERPRISE ROADMAP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✓ Distributed Async Task Queue: Celery + Redis for asynchronous background processing of thousands of documents.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✓ Managed Cloud Database: PostgreSQL with JSONB indices for high-concurrency document searches and analytics.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✓ Human-in-the-Loop (HITL): Workflow routing low-confidence extractions (&lt;80%) to compliance reviewers.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✓ Multi-Model Consensus: Cross-verifying ambiguous fields across Gemini 3.6, Claude 3.5 Sonnet, and GPT-4o.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✓ Role-Based Access Control (RBAC): JWT authentication and tenant-level encryption at rest.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SUBMISSION DELIVERABLES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Project Summary &amp; Verification Complete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Public GitHub Repository: https://github.com/Pownkumar-g/Document-intelligence-platform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Live Deployed Service: Hosted on Render (Docker containerized)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Interactive API Documentation: Auto-generated OpenAPI / Swagger docs at /docs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Automated Test Coverage: 37/37 passing test suite across API, OCR, extraction &amp; validation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Engineering Discipline: Clean architectural layering, robust error handling, full auditability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